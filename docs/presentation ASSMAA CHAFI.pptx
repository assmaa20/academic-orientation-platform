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strument Sans" pitchFamily="2" charset="0"/>
      <p:regular r:id="rId13"/>
      <p:bold r:id="rId14"/>
      <p:italic r:id="rId15"/>
      <p:bold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27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9364"/>
            <a:ext cx="8151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Conception et développement d'une plateforme intelligente d'orientation universitaire</a:t>
            </a:r>
          </a:p>
          <a:p>
            <a:pPr algn="ctr">
              <a:lnSpc>
                <a:spcPct val="104000"/>
              </a:lnSpc>
            </a:pPr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Basée sur l'intelligence artificielle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67518" y="2029196"/>
            <a:ext cx="8608963" cy="42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 CHAFI Assmaa</a:t>
            </a:r>
          </a:p>
        </p:txBody>
      </p:sp>
      <p:sp>
        <p:nvSpPr>
          <p:cNvPr id="4" name="Shape 2"/>
          <p:cNvSpPr/>
          <p:nvPr/>
        </p:nvSpPr>
        <p:spPr>
          <a:xfrm>
            <a:off x="496120" y="2381629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1E3063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247174" y="3682480"/>
            <a:ext cx="3400708" cy="432846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505056" y="2633650"/>
            <a:ext cx="196899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ENCADRANT ACADÉMIQUE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25948" y="2996389"/>
            <a:ext cx="3121934" cy="32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M. Harazeem Oluwadamilare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47174" y="2511755"/>
            <a:ext cx="3300818" cy="426553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5505056" y="3808666"/>
            <a:ext cx="234441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ENCADRANTE PROFESSIONNELLE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05056" y="4236213"/>
            <a:ext cx="2260749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Mme Nouhaila Ait Ahmed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9058" y="2528662"/>
            <a:ext cx="2423479" cy="42170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94616" y="2652669"/>
            <a:ext cx="1950664" cy="234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UNIVERSITÉ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6120" y="302812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Université Internationale de Rabat (UIR)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École d'Ingénierie – Informatique Big Data &amp; IA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6571" y="3719136"/>
            <a:ext cx="2423479" cy="416649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6119" y="4164425"/>
            <a:ext cx="3532470" cy="57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Ministère de l'Enseignement Supérieur, </a:t>
            </a:r>
          </a:p>
          <a:p>
            <a:pPr>
              <a:lnSpc>
                <a:spcPct val="133000"/>
              </a:lnSpc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Recherche Scientifique et de l'Innovation (MESRSI)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9E944CE-9E2B-195D-F2AE-EF578AAF6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420" y="4855760"/>
            <a:ext cx="2324424" cy="256429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C1381C19-B85C-50B7-BE50-360DE1D62CEA}"/>
              </a:ext>
            </a:extLst>
          </p:cNvPr>
          <p:cNvSpPr/>
          <p:nvPr/>
        </p:nvSpPr>
        <p:spPr>
          <a:xfrm>
            <a:off x="694616" y="3800162"/>
            <a:ext cx="1950664" cy="234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Organisme d'accueil</a:t>
            </a:r>
            <a:endParaRPr lang="en-US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34181" y="440743"/>
            <a:ext cx="476933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Contexte et Problématique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4181" y="908921"/>
            <a:ext cx="8151763" cy="932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33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L'orientation universitaire au Maroc reste complexe en raison de la dispersion des informations sur les filières, les établissements et les débouchés professionnels. Les étudiants rencontrent des difficultés pour accéder rapidement à des informations fiables et adaptées à leurs besoins.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373" y="1903944"/>
            <a:ext cx="2622724" cy="23288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467" y="206978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Informations dispersées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26467" y="2320669"/>
            <a:ext cx="2224906" cy="1633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33000"/>
              </a:lnSpc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informations relatives aux filières, aux universités et aux métiers sont réparties sur plusieurs plateformes, ce qui complique leur consultation.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0" y="1910841"/>
            <a:ext cx="2710247" cy="23219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97609" y="206978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15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Données incomplètes</a:t>
            </a:r>
            <a:endParaRPr lang="en-US" sz="15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426730" y="2329426"/>
            <a:ext cx="2366664" cy="1791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fr-FR" sz="1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jeu de données fourni contenait des valeurs manquantes, des incohérences et des formats hétérogènes, nécessitant une phase de préparation et d'enrichissement.</a:t>
            </a:r>
            <a:endParaRPr lang="en-US" sz="13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3183" y="1921654"/>
            <a:ext cx="2715057" cy="23111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2091" y="2069783"/>
            <a:ext cx="251614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fr-FR" sz="15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 peu personnalisée</a:t>
            </a:r>
            <a:endParaRPr lang="en-US" sz="15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262091" y="2379860"/>
            <a:ext cx="2224906" cy="142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solutions existantes offrent peu d'accompagnement intelligent et ne permettent pas de guider efficacement les étudiants selon leurs besoins.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1426515" y="4391700"/>
            <a:ext cx="6367093" cy="627160"/>
          </a:xfrm>
          <a:prstGeom prst="roundRect">
            <a:avLst>
              <a:gd name="adj" fmla="val 22504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ctr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 : Centraliser les informations universitaires et guider les étudiants grâce à l'IA</a:t>
            </a:r>
          </a:p>
        </p:txBody>
      </p:sp>
      <p:sp>
        <p:nvSpPr>
          <p:cNvPr id="18" name="Text 11"/>
          <p:cNvSpPr/>
          <p:nvPr/>
        </p:nvSpPr>
        <p:spPr>
          <a:xfrm>
            <a:off x="1017776" y="4539596"/>
            <a:ext cx="5940373" cy="603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endParaRPr lang="fr-FR" sz="14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FB0C2E3-6A8E-F33A-2C16-5B579EAC3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886" y="4711337"/>
            <a:ext cx="1132114" cy="3619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96119" y="9984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Objectifs du projet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165400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01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96119" y="1875904"/>
            <a:ext cx="2622724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96119" y="19848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Préparer les données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6119" y="229135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Collecte, nettoyage et structuration des données universitaires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60601" y="165400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100" b="1" dirty="0"/>
          </a:p>
        </p:txBody>
      </p:sp>
      <p:sp>
        <p:nvSpPr>
          <p:cNvPr id="11" name="Shape 8"/>
          <p:cNvSpPr/>
          <p:nvPr/>
        </p:nvSpPr>
        <p:spPr>
          <a:xfrm>
            <a:off x="3260601" y="1875904"/>
            <a:ext cx="2622724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260601" y="19848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Enrichir par l'IA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60601" y="2291358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Compléter automatiquement les données manquantes grâce à l'intelligence artificielle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25083" y="165400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Times New Roman" panose="02020603050405020304" pitchFamily="18" charset="0"/>
              </a:rPr>
              <a:t>03</a:t>
            </a:r>
            <a:endParaRPr lang="en-US" sz="1100" b="1" dirty="0"/>
          </a:p>
        </p:txBody>
      </p:sp>
      <p:sp>
        <p:nvSpPr>
          <p:cNvPr id="15" name="Shape 12"/>
          <p:cNvSpPr/>
          <p:nvPr/>
        </p:nvSpPr>
        <p:spPr>
          <a:xfrm>
            <a:off x="6025083" y="1875904"/>
            <a:ext cx="2622724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025083" y="19848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Développer la plateforme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025083" y="229135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Créer une interface web moderne, intuitive et réactive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96119" y="321982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1100" b="1" dirty="0"/>
          </a:p>
        </p:txBody>
      </p:sp>
      <p:sp>
        <p:nvSpPr>
          <p:cNvPr id="19" name="Shape 16"/>
          <p:cNvSpPr/>
          <p:nvPr/>
        </p:nvSpPr>
        <p:spPr>
          <a:xfrm>
            <a:off x="496119" y="3441725"/>
            <a:ext cx="4004965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96119" y="355066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Intégrer le chatbot IA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96119" y="385717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Fournir une assistance intelligente et personnalisée </a:t>
            </a:r>
          </a:p>
          <a:p>
            <a:pPr>
              <a:lnSpc>
                <a:spcPct val="133000"/>
              </a:lnSpc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 étudiants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642842" y="321982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05</a:t>
            </a:r>
            <a:endParaRPr lang="en-US" sz="1100" b="1" dirty="0"/>
          </a:p>
        </p:txBody>
      </p:sp>
      <p:sp>
        <p:nvSpPr>
          <p:cNvPr id="23" name="Shape 20"/>
          <p:cNvSpPr/>
          <p:nvPr/>
        </p:nvSpPr>
        <p:spPr>
          <a:xfrm>
            <a:off x="4642842" y="3441725"/>
            <a:ext cx="4004965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642842" y="355066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Améliorer l'orientation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42842" y="385717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Faciliter le choix des filières grâce à des recommandations pertinentes.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737D2CB-55AE-887F-261E-8146C0535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576" y="4199124"/>
            <a:ext cx="2324424" cy="8859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96119" y="675605"/>
            <a:ext cx="5253111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de préparation et d'enrichissement des données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15421"/>
            <a:ext cx="4756993" cy="2051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3796" y="2829051"/>
            <a:ext cx="2136820" cy="188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 des valeurs manquantes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33796" y="2400717"/>
            <a:ext cx="1079187" cy="134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Nettoyage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33796" y="1898640"/>
            <a:ext cx="1079187" cy="134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Analyse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33796" y="1433435"/>
            <a:ext cx="1079187" cy="134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Dataset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96119" y="3796333"/>
            <a:ext cx="4756993" cy="889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pipeline garantit des données fiables, cohérentes et enrichies pour alimenter la plateforme d'orientation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592887" y="957621"/>
            <a:ext cx="3273795" cy="881286"/>
          </a:xfrm>
          <a:prstGeom prst="roundRect">
            <a:avLst>
              <a:gd name="adj" fmla="val 14025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744541" y="1110200"/>
            <a:ext cx="2746995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🐍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Python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749230" y="1415558"/>
            <a:ext cx="27469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Traitement et orchestration du pipeline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588196" y="1962607"/>
            <a:ext cx="3273795" cy="1097607"/>
          </a:xfrm>
          <a:prstGeom prst="roundRect">
            <a:avLst>
              <a:gd name="adj" fmla="val 1126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749230" y="2160768"/>
            <a:ext cx="2746995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📊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Pandas &amp; NumPy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749230" y="2425348"/>
            <a:ext cx="27469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Analyse, nettoyage et manipulation des données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588196" y="3167065"/>
            <a:ext cx="3273795" cy="881286"/>
          </a:xfrm>
          <a:prstGeom prst="roundRect">
            <a:avLst>
              <a:gd name="adj" fmla="val 14025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744540" y="3342194"/>
            <a:ext cx="2746995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🤖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Ollama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744539" y="3645436"/>
            <a:ext cx="27469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Enrichissement intelligent via IA locale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8413A9CA-87A0-4060-66E2-91C73E319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171" y="4741734"/>
            <a:ext cx="2324424" cy="330385"/>
          </a:xfrm>
          <a:prstGeom prst="rect">
            <a:avLst/>
          </a:prstGeom>
        </p:spPr>
      </p:pic>
      <p:sp>
        <p:nvSpPr>
          <p:cNvPr id="24" name="Shape 14">
            <a:extLst>
              <a:ext uri="{FF2B5EF4-FFF2-40B4-BE49-F238E27FC236}">
                <a16:creationId xmlns:a16="http://schemas.microsoft.com/office/drawing/2014/main" id="{1889F17D-9232-7BDF-F10F-475E841DCF18}"/>
              </a:ext>
            </a:extLst>
          </p:cNvPr>
          <p:cNvSpPr/>
          <p:nvPr/>
        </p:nvSpPr>
        <p:spPr>
          <a:xfrm>
            <a:off x="5588195" y="4172424"/>
            <a:ext cx="3273795" cy="881286"/>
          </a:xfrm>
          <a:prstGeom prst="roundRect">
            <a:avLst>
              <a:gd name="adj" fmla="val 14025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Qwen</a:t>
            </a: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245DF3AF-D6F5-9FD7-F9B2-ABEF34FEB62A}"/>
              </a:ext>
            </a:extLst>
          </p:cNvPr>
          <p:cNvSpPr/>
          <p:nvPr/>
        </p:nvSpPr>
        <p:spPr>
          <a:xfrm>
            <a:off x="5749230" y="4555022"/>
            <a:ext cx="27469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endParaRPr lang="fr-FR" sz="16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ABD7644-3849-1996-3EB6-83A70333AD29}"/>
              </a:ext>
            </a:extLst>
          </p:cNvPr>
          <p:cNvSpPr txBox="1"/>
          <p:nvPr/>
        </p:nvSpPr>
        <p:spPr>
          <a:xfrm>
            <a:off x="5681272" y="4538490"/>
            <a:ext cx="308797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intelligente des réponses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générale de la plateforme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59656" y="904516"/>
            <a:ext cx="3217407" cy="327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1600" dirty="0"/>
              <a:t>Architecture en couches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659656" y="1419943"/>
            <a:ext cx="3336677" cy="321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</a:t>
            </a:r>
            <a:r>
              <a:rPr lang="fr-FR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utilisateur interactive</a:t>
            </a:r>
          </a:p>
          <a:p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Backend </a:t>
            </a:r>
            <a:r>
              <a:rPr lang="fr-FR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logique métier et API REST</a:t>
            </a:r>
          </a:p>
          <a:p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 Server :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stockage des données</a:t>
            </a:r>
          </a:p>
          <a:p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fr-FR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IA :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assistance intelligente</a:t>
            </a:r>
          </a:p>
          <a:p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fr-FR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Qwen :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génération des réponses</a:t>
            </a:r>
          </a:p>
          <a:p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 flipV="1">
            <a:off x="5659656" y="1232453"/>
            <a:ext cx="2988151" cy="45719"/>
          </a:xfrm>
          <a:prstGeom prst="roundRect">
            <a:avLst>
              <a:gd name="adj" fmla="val 50000"/>
            </a:avLst>
          </a:prstGeom>
          <a:solidFill>
            <a:srgbClr val="1E3063">
              <a:alpha val="50000"/>
            </a:srgbClr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594" y="5301704"/>
            <a:ext cx="2697212" cy="2360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6011" y="5311229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Frontend React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86011" y="5443165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Interface réactive et composants réutilisables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8557" y="5301704"/>
            <a:ext cx="2697287" cy="2360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17974" y="5311229"/>
            <a:ext cx="25978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FastAPI Backend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3317974" y="5443165"/>
            <a:ext cx="25978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API performante, asynchrone et sécurisée JWT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0595" y="5301704"/>
            <a:ext cx="2697212" cy="23604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50012" y="5311229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Ollama → Qwen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6050012" y="5443165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Inférence LLM locale, souveraine et rapide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898A06C-148B-63AD-1044-3E494F376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741" y="4753744"/>
            <a:ext cx="2324424" cy="37271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EB2E262D-5656-09DB-A58D-284B0E149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936" y="904515"/>
            <a:ext cx="5271222" cy="3915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96119" y="81178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Stack Technologique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96119" y="1467371"/>
            <a:ext cx="2622724" cy="1610692"/>
          </a:xfrm>
          <a:prstGeom prst="roundRect">
            <a:avLst>
              <a:gd name="adj" fmla="val 792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37877" y="1609130"/>
            <a:ext cx="425276" cy="425276"/>
          </a:xfrm>
          <a:prstGeom prst="ellipse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726034"/>
            <a:ext cx="191319" cy="1913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7877" y="2176165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Backend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37877" y="2397621"/>
            <a:ext cx="2339206" cy="73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Python,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FastAPI</a:t>
            </a:r>
            <a:endParaRPr lang="en-US" sz="1500" dirty="0">
              <a:solidFill>
                <a:srgbClr val="1E3063"/>
              </a:solidFill>
              <a:latin typeface="Times New Roman" panose="02020603050405020304" pitchFamily="18" charset="0"/>
              <a:ea typeface="Instrument Sans Medium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3000"/>
              </a:lnSpc>
            </a:pP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SQLAlchemy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JWT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260601" y="1467371"/>
            <a:ext cx="2622724" cy="1610692"/>
          </a:xfrm>
          <a:prstGeom prst="roundRect">
            <a:avLst>
              <a:gd name="adj" fmla="val 792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402360" y="1609130"/>
            <a:ext cx="425276" cy="425276"/>
          </a:xfrm>
          <a:prstGeom prst="ellipse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1726034"/>
            <a:ext cx="191319" cy="1913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02360" y="2176165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Frontend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402360" y="2397621"/>
            <a:ext cx="2339206" cy="79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React , HTML • CSS</a:t>
            </a:r>
          </a:p>
          <a:p>
            <a:pPr>
              <a:lnSpc>
                <a:spcPct val="133000"/>
              </a:lnSpc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JavaScript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025083" y="1467371"/>
            <a:ext cx="2622724" cy="1610692"/>
          </a:xfrm>
          <a:prstGeom prst="roundRect">
            <a:avLst>
              <a:gd name="adj" fmla="val 792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166842" y="1609130"/>
            <a:ext cx="425276" cy="425276"/>
          </a:xfrm>
          <a:prstGeom prst="ellipse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3821" y="1726034"/>
            <a:ext cx="191319" cy="1913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66842" y="2176165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Base de données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6166842" y="2482676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SQL Server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496119" y="3219822"/>
            <a:ext cx="4004965" cy="1383878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637877" y="3361581"/>
            <a:ext cx="425276" cy="425276"/>
          </a:xfrm>
          <a:prstGeom prst="ellipse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856" y="3478485"/>
            <a:ext cx="191319" cy="19131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7877" y="392861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Intelligence Artificielle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637877" y="4235128"/>
            <a:ext cx="3721447" cy="368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s-E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Ollama, Qwen 2.5, LLM local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4642842" y="3219822"/>
            <a:ext cx="4004965" cy="1383878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4784601" y="3361581"/>
            <a:ext cx="425276" cy="425276"/>
          </a:xfrm>
          <a:prstGeom prst="ellipse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1580" y="3478485"/>
            <a:ext cx="191319" cy="19131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84601" y="392861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Outils de développement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784602" y="4235128"/>
            <a:ext cx="3583022" cy="368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, SSMS, Postman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38FB4AEE-265D-0298-7275-B6A115685A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8616" y="4745459"/>
            <a:ext cx="2324424" cy="3794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96119" y="631329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Fonctionnalités Principales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29815"/>
            <a:ext cx="304577" cy="3045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1448543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Filières &amp; Universités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96119" y="1713010"/>
            <a:ext cx="3927277" cy="66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Gestion complète des programmes, 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établissements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et informations académiques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53654"/>
            <a:ext cx="304577" cy="3045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889051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Métiers &amp; Débouchés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91356" y="3184028"/>
            <a:ext cx="3927277" cy="666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Cartographie des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opportunités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professionnelles</a:t>
            </a:r>
            <a:endParaRPr lang="en-US" sz="1500" dirty="0">
              <a:solidFill>
                <a:srgbClr val="1E3063"/>
              </a:solidFill>
              <a:latin typeface="Times New Roman" panose="02020603050405020304" pitchFamily="18" charset="0"/>
              <a:ea typeface="Instrument Sans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par domaine d'étude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7483" y="3883892"/>
            <a:ext cx="304577" cy="30457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10655" y="4252732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Recherche intelligente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236132" y="4655046"/>
            <a:ext cx="392727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Filtrage avancé et résultats pertinents en temps réel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6222" y="1029815"/>
            <a:ext cx="304577" cy="30457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25367" y="1504430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Profil</a:t>
            </a: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Utilisateur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725367" y="1763600"/>
            <a:ext cx="3927277" cy="615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Espace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personnalisé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pour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suivre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ses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préférences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et son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parcours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d'orientation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6222" y="2453654"/>
            <a:ext cx="304577" cy="30457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25367" y="2889050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Chatbot IA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725367" y="3210219"/>
            <a:ext cx="3927277" cy="583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Guidance personnalisée et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intelligente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disponible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en continu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7C372DB2-96E2-6FE1-19AE-339B7859FC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9576" y="4240336"/>
            <a:ext cx="2324424" cy="8859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96119" y="662732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Architecture du Chatbot IA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022672"/>
            <a:ext cx="7890644" cy="29609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02209" y="3264814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Réponse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502299" y="326481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Recherche SQL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010540" y="326481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 IA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518781" y="326481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Analyse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94415" y="326481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Question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67481" y="3701359"/>
            <a:ext cx="8608963" cy="471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8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la question de l'utilisateur, consulte les données disponibles et génère une réponse </a:t>
            </a:r>
          </a:p>
          <a:p>
            <a:pPr algn="ctr">
              <a:lnSpc>
                <a:spcPct val="108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personnalisée grâce au modèle Qwen exécuté localement avec </a:t>
            </a: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43792" y="4330101"/>
            <a:ext cx="4095378" cy="549122"/>
          </a:xfrm>
          <a:prstGeom prst="roundRect">
            <a:avLst>
              <a:gd name="adj" fmla="val 30811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20898" y="4341050"/>
            <a:ext cx="3489642" cy="24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Compréhension naturelle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20898" y="4600117"/>
            <a:ext cx="437547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des questions en langage naturel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655270" y="4319512"/>
            <a:ext cx="39678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Guidance adaptative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655270" y="4604662"/>
            <a:ext cx="4425032" cy="27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Réponses adaptées au profil et aux besoins de l'étudiant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2C998F86-DBC8-C79B-E535-8FD597CE5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420" y="4863649"/>
            <a:ext cx="2324424" cy="2798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96118" y="3903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Résultats et Livrables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6119" y="11868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Livrables majeurs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9250" y="1591716"/>
            <a:ext cx="2599134" cy="56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Plateforme • Base de données</a:t>
            </a:r>
          </a:p>
          <a:p>
            <a:pPr algn="ctr">
              <a:lnSpc>
                <a:spcPct val="133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• </a:t>
            </a: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IA • </a:t>
            </a: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enrichi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72432" y="11868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REST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72433" y="159123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développés et testés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48745" y="11868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local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01879" y="159123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33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 exécuté avec </a:t>
            </a: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 flipV="1">
            <a:off x="496119" y="2543181"/>
            <a:ext cx="8151763" cy="73123"/>
          </a:xfrm>
          <a:prstGeom prst="roundRect">
            <a:avLst>
              <a:gd name="adj" fmla="val 50000"/>
            </a:avLst>
          </a:prstGeom>
          <a:solidFill>
            <a:srgbClr val="1E3063">
              <a:alpha val="50000"/>
            </a:srgbClr>
          </a:solidFill>
          <a:ln/>
        </p:spPr>
        <p:txBody>
          <a:bodyPr/>
          <a:lstStyle/>
          <a:p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2994194"/>
            <a:ext cx="212601" cy="21260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56816" y="2936220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Plateforme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fonctionnelle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956815" y="3417802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Plateforme web développée et validée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7891" y="2990177"/>
            <a:ext cx="212601" cy="21260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16019" y="2935222"/>
            <a:ext cx="22520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Base de données enrichie et structurée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733129" y="3417802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nettoyées, enrichies et structurées.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7758" y="2990176"/>
            <a:ext cx="212601" cy="21260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15886" y="2936220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Expérience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utilisateur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515886" y="3417802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Navigation intuitive, recherche rapide et </a:t>
            </a:r>
            <a:r>
              <a:rPr lang="en-US" sz="150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réponses</a:t>
            </a: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E2024BD5-3D89-2556-4DE5-646EE9FA9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171" y="4596562"/>
            <a:ext cx="2324424" cy="5034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7742" y="451594"/>
            <a:ext cx="468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Perspectives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B113B7A-42FB-B52D-821A-65F5C4EDC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576" y="4257551"/>
            <a:ext cx="2324424" cy="88594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1073CC3-6381-55A3-F231-9B162B08B571}"/>
              </a:ext>
            </a:extLst>
          </p:cNvPr>
          <p:cNvSpPr txBox="1"/>
          <p:nvPr/>
        </p:nvSpPr>
        <p:spPr>
          <a:xfrm>
            <a:off x="365626" y="894581"/>
            <a:ext cx="841274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fr-FR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Amélioration du </a:t>
            </a:r>
            <a:r>
              <a:rPr lang="fr-FR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IA 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réponses plus précises et contextualisées.</a:t>
            </a:r>
            <a:endParaRPr lang="fr-FR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</a:t>
            </a: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mobile 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accès simplifié à la plateforme sur smartphone.</a:t>
            </a:r>
          </a:p>
          <a:p>
            <a:pPr lvl="0"/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de bord analytique 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des statistiques d'utilisation et des tendances d'orientation.</a:t>
            </a:r>
            <a:endParaRPr lang="fr-FR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🗄️ </a:t>
            </a: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des données 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nouvelles filières, universités et débouchés professionnels.</a:t>
            </a:r>
            <a:endParaRPr lang="fr-FR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Recommandation intelligente 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suggestions de filières adaptées au profil de</a:t>
            </a:r>
          </a:p>
          <a:p>
            <a:pPr lvl="0"/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l'étudiant.</a:t>
            </a:r>
          </a:p>
          <a:p>
            <a:pPr lvl="0"/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689</Words>
  <Application>Microsoft Office PowerPoint</Application>
  <PresentationFormat>Affichage à l'écran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Instrument Sans</vt:lpstr>
      <vt:lpstr>Times New Roman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assmaa chafi</dc:creator>
  <cp:lastModifiedBy>Assmaa CHAFI</cp:lastModifiedBy>
  <cp:revision>2</cp:revision>
  <dcterms:created xsi:type="dcterms:W3CDTF">2026-07-30T20:30:36Z</dcterms:created>
  <dcterms:modified xsi:type="dcterms:W3CDTF">2026-07-30T22:28:53Z</dcterms:modified>
</cp:coreProperties>
</file>